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3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FRAUD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Exploratory Analysis &amp; Model Evaluation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Solutions  |  Standard Bank Hackathon — Data Science Track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502920" cy="73152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0992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structure, and the core fraud problem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212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5117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and what "clean" really means here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4008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540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9242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imbalance, transaction types, balance behaviour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64008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8953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3367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balances into fraud-revealing signals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82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40080" y="4782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736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Evaluation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0749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Random Forest, XGBoost — and a hard look at the results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5577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91616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trust, what needs scrutiny, and next steps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636,262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33756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91540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Synthetic_Financial_Datasets_For_Fraud_Detection_resample.csv — modelled on the PaySim mobile-money simulation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(time)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nameOrig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oldbalanceOrg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newbalanceOrig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nameDest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oldbalanceDest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newbalanceDest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isFraud (target)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532120" cy="2514600"/>
          </a:xfrm>
          <a:prstGeom prst="roundRect">
            <a:avLst>
              <a:gd name="adj" fmla="val 3636"/>
            </a:avLst>
          </a:prstGeom>
          <a:solidFill>
            <a:srgbClr val="FFF3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30936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443484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here means finding roughly 1 transaction in every 750 — a classic severe class-imbalance problem. This shapes every later decision: how we split data, how we evaluate models, and why plain accuracy is meaningless.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Data Actually Clean?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D1D2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data_cleaning.py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print("Missing Values")
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
</a:t>
            </a: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0 for every column
</a:t>
            </a: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print("Duplicate Rows:")
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
</a:t>
            </a: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0 (but nameOrig/nameDest are
#     near-unique IDs, so this test is weak)
</a:t>
            </a: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["step","type","amount","oldbalanceOrg",
        "newbalanceOrig","oldbalanceDest",
        "newbalanceDest"]
df.duplicated(subset=cols).sum()
</a:t>
            </a: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stricter check, ignores account IDs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checks found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658368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df.isnull().sum() across all 11 columns — a genuinely clean input.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3401568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duplicate rows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90448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nameOrig/nameDest are near-unique IDs, so this test almost can't fail — it isn't testing much.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4974336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583680" y="5093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balances ≠ missing data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5477256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destinations ("M..." accounts) never have tracked balances in this dataset — 0 is a business rule, not a defect.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Imbalance: The Core Challenge</a:t>
            </a:r>
            <a:endParaRPr lang="en-US" sz="2600" dirty="0"/>
          </a:p>
        </p:txBody>
      </p:sp>
      <p:pic>
        <p:nvPicPr>
          <p:cNvPr id="4" name="Image 0" descr="/home/claude/slide_imgs/01_fraud_vs_legi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49377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594360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94360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636,262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86968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635,413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86968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43600" y="3108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drives every later decision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0" y="3520440"/>
            <a:ext cx="5669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"never fraud" would score 99.87% accuracy — accuracy is meaningless here.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 with Precision, Recall, F1, and ROC-AUC / PR-AUC instead.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(synthetic oversampling) is applied to the training split only — never to the test split — to avoid leaking synthetic fraud patterns into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Types &amp; Where Fraud Occurs</a:t>
            </a:r>
            <a:endParaRPr lang="en-US" sz="2600" dirty="0"/>
          </a:p>
        </p:txBody>
      </p:sp>
      <p:pic>
        <p:nvPicPr>
          <p:cNvPr id="4" name="Image 0" descr="/home/claude/slide_imgs/02_transactions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445" y="1348740"/>
            <a:ext cx="557784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349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CASH_OUT dominate transaction volume, but fraud is concentrated almost entirely in CASH_OUT (417 cases) and TRANSFER (432 cases) — CASH_IN, DEBIT, and PAYMENT show effectively zero fraud.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Fraud Is Type-Specific</a:t>
            </a:r>
            <a:endParaRPr lang="en-US" sz="2600" dirty="0"/>
          </a:p>
        </p:txBody>
      </p:sp>
      <p:pic>
        <p:nvPicPr>
          <p:cNvPr id="4" name="Image 0" descr="/home/claude/slide_imgs/04_legit_vs_fraud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649224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71600"/>
            <a:ext cx="4023360" cy="3977640"/>
          </a:xfrm>
          <a:prstGeom prst="roundRect">
            <a:avLst>
              <a:gd name="adj" fmla="val 2299"/>
            </a:avLst>
          </a:prstGeom>
          <a:solidFill>
            <a:srgbClr val="FFF3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7863840" y="16002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modelling shortcut hiding in plain 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224028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known artifact of PaySim-style synthetic data, not necessarily how real-world fraud behaves.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alone already rules out 3 of 5 categories almost perfectly.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stating as a limitation: a model trained here may over-rely on this synthetic pattern.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Amounts</a:t>
            </a:r>
            <a:endParaRPr lang="en-US" sz="2600" dirty="0"/>
          </a:p>
        </p:txBody>
      </p:sp>
      <p:pic>
        <p:nvPicPr>
          <p:cNvPr id="4" name="Image 0" descr="/home/claude/slide_imgs/05_amou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768" y="1225591"/>
            <a:ext cx="5577840" cy="4023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532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heavily right-skewed (log scale used above) — a small number of very large transfers and cash-outs dominate the tail, which is exactly where HighValueTransaction and AmountToBalanceRatio earn their keep as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Fraud Signature: Drained Accounts</a:t>
            </a:r>
            <a:endParaRPr lang="en-US" sz="2600" dirty="0"/>
          </a:p>
        </p:txBody>
      </p:sp>
      <p:pic>
        <p:nvPicPr>
          <p:cNvPr id="4" name="Image 0" descr="/home/claude/slide_imgs/07_balance_before_afte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2120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scatter shows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2648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a transaction: sender balance before (x) vs. after (y).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transactions (blue) spread naturally along the diagonal.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(red) cluster on the x-axis — the sender's balance goes to exactly zero, almost every time.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behaviour — "the account gets fully drained" — is the strongest signal in the entire dataset, and it's what AccountEmptied and BalanceChangeOrig are built to capture.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Balances Into Signals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1D1D2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df_fe = df.copy()
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df_fe['BalanceChangeOrig'] = (
    df_fe['oldbalanceOrg']
  - df_fe['newbalanceOrig'])
df_fe['AccountEmptied'] = (
    df_fe['newbalanceOrig'] == 0
  ).astype(int)
df_fe['AmountToBalanceRatio'] = (
    df_fe['amount'] /
   (df_fe['oldbalanceOrg'] + 1))
df_fe['RiskScore'] = 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amount_risk   * 0.35 +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type_risk     * 0.25 +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amount_ratio  * 0.20 +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balance_ratio * 0.20)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5508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engineered features, in plain terms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BalanceChangeOrig / Dest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2011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sender's / receiver's balance actually moved.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5508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AccountEmptied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28529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the sender's balance hits exactly zero after the transaction.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55080" y="34198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AmountToBalanceRatio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369417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transaction close to the sender's entire balance? Fraud often ≈ 1.0.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55080" y="42611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 (0–100)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453542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hand-built composite of amount size, transaction type, and balance-drain ratio.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51023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is_cash_out / is_transfer / 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53766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flags — since fraud is concentrated in just two types.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Leakage &amp; Selecting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D1D2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leakage_cols = ['isFlaggedFraud']
df_prep = df_fe.drop(
    columns=leakage_cols)
</a:t>
            </a: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nameOrig / nameDest excluded too
# (~636K / ~457K unique IDs)
</a:t>
            </a: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df_prep[features]
y = df_prep['isFraud']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 → dropped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18105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PaySim's own rule-based flag (&gt;R200,000 triggers it), not a raw transaction attribute — keeping it would mean partly learning from another detector's decision, not genuine behaviour.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816352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nameOrig / nameDest → dropped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325526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unique account IDs — encoding them risks the model memorising specific accounts instead of learning generalisable behaviour.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3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split: 80 / 20, stratified on isFraud, random_state=42 — so both splits keep the same ~0.13% fraud rate.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Head to Head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617720" cy="2331720"/>
          </a:xfrm>
          <a:prstGeom prst="roundRect">
            <a:avLst>
              <a:gd name="adj" fmla="val 3137"/>
            </a:avLst>
          </a:prstGeom>
          <a:solidFill>
            <a:srgbClr val="1D1D2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
    n_estimators=100,
    max_depth=10,
    min_samples_split=20,
    random_state=42)
rf.fit(X_train, y_train)
rf_pred = rf.predict(X_test)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63040"/>
          <a:ext cx="6126480" cy="1737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8862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FF3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Random Forest scored a perfect 1.0000 across every metric.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score on a real-world fraud task is a red flag, not a win — it usually means a feature is (unintentionally) encoding the label. We unpack this on the "Critical Finding" slide rather than taking it at face value.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Model Actually Using?</a:t>
            </a:r>
            <a:endParaRPr lang="en-US" sz="2600" dirty="0"/>
          </a:p>
        </p:txBody>
      </p:sp>
      <p:pic>
        <p:nvPicPr>
          <p:cNvPr id="4" name="Image 0" descr="/home/claude/imgs/cell5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760720" cy="3840480"/>
          </a:xfrm>
          <a:prstGeom prst="rect">
            <a:avLst/>
          </a:prstGeom>
        </p:spPr>
      </p:pic>
      <p:pic>
        <p:nvPicPr>
          <p:cNvPr id="5" name="Image 1" descr="/home/claude/imgs/cell5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19489"/>
            <a:ext cx="3093228" cy="3379268"/>
          </a:xfrm>
          <a:prstGeom prst="rect">
            <a:avLst/>
          </a:prstGeom>
        </p:spPr>
      </p:pic>
      <p:pic>
        <p:nvPicPr>
          <p:cNvPr id="6" name="Image 2" descr="/home/claude/imgs/cell5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39" y="1109826"/>
            <a:ext cx="2871019" cy="382596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74339" y="502920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which features push predictions toward "fraud"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AmountToBalanceRatio, BalanceChangeOrig, and RiskScore dominate — together accounting for over 60% of total feature importance. All three are built directly from amount and balance-drain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Good To Be True?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480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model on a real fraud task deserves scrutiny before celebration.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Scores Are Suspiciously High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data has a "tell"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fraudulent CASH_OUT / TRANSFER transactions almost always drain the sender's account completely (amount ≈ oldbalanceOrg, newbalanceOrig = 0). Real fraud is rarely this clean.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encode that tell directly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AmountToBalanceRatio ≈ 1.0 and AccountEmptied = 1 are near-perfect proxies for this synthetic rule — the model isn't learning subtle behaviour, it's reading an artifact of how the data was generated.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6285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22960" y="46817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 partially hard-codes domain rules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from transaction type (TRANSFER/CASH_OUT weighted highest, matching exactly where fraud can occur) and balance-drain ratios — a composite that already "knows" the answer pattern before the model sees it.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without the composite features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17647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RiskScore and re-check whether AmountToBalanceRatio / AccountEmptied alone still separate classes this cleanly — isolates genuine signal from hard-coded rules.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24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PR-AUC alongside ROC-AUC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88720" y="29718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0.13% fraud, ROC-AUC is easy to inflate. Precision-recall curves and the confusion matrix tell the real story of false alarms vs. missed fraud.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3133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held-out real-world data if possible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88720" y="41788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is a strong training ground, but a synthetic generation rule is not the same as real fraud behaviour — production deployment needs real transaction validation.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48640" y="5084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03834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threshold, not just the model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538581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the cost of a false alarm (annoying a customer) vs. a missed fraud (financial loss) should set the classification cutoff — not the default 0.5.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502920" cy="73152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1641</Words>
  <Application>Microsoft Office PowerPoint</Application>
  <PresentationFormat>Widescreen</PresentationFormat>
  <Paragraphs>192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Phuti Setati</cp:lastModifiedBy>
  <cp:revision>2</cp:revision>
  <dcterms:created xsi:type="dcterms:W3CDTF">2026-07-26T07:28:26Z</dcterms:created>
  <dcterms:modified xsi:type="dcterms:W3CDTF">2026-07-26T10:33:14Z</dcterms:modified>
</cp:coreProperties>
</file>